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2353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Indicații pentru student: acest slide spune unde ești. Întrebarea rămâne aceeași toate 14 săptămânile; dacă o schimbi, spune explicit că ai pivotat și de 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Indicații pentru student: dacă nu ai o figură sau un tabel, nu ai dovadă. O figură cu baseline-ul lipsă nu se punctează.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Indicații pentru student: un plan e verificabil dacă la checkpoint-ul următor se poate spune da sau nu pentru fiecare rând.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4393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67830"/>
            <a:ext cx="10566400" cy="4277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4393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67830"/>
            <a:ext cx="10566400" cy="4277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kern="0" spc="150" dirty="0">
                <a:solidFill>
                  <a:srgbClr val="C8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IC3 · CP1 · OBSERVAȚII · SĂPTĂMÂNA 4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9330"/>
            <a:ext cx="11379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Popescu Alin · U7 · UrbanTwin: rețeaua de senzori de aer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17030"/>
            <a:ext cx="5181600" cy="4124970"/>
          </a:xfrm>
          <a:prstGeom prst="roundRect">
            <a:avLst>
              <a:gd name="adj" fmla="val 1847"/>
            </a:avLst>
          </a:prstGeom>
          <a:solidFill>
            <a:srgbClr val="E9E4D8"/>
          </a:solidFill>
          <a:ln/>
        </p:spPr>
        <p:txBody>
          <a:bodyPr/>
          <a:lstStyle/>
          <a:p>
            <a:endParaRPr lang="en-RO"/>
          </a:p>
        </p:txBody>
      </p:sp>
      <p:sp>
        <p:nvSpPr>
          <p:cNvPr id="5" name="Text 3"/>
          <p:cNvSpPr/>
          <p:nvPr/>
        </p:nvSpPr>
        <p:spPr>
          <a:xfrm>
            <a:off x="1041400" y="1945630"/>
            <a:ext cx="486613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Întrebarea mea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1400" y="2275830"/>
            <a:ext cx="48661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Cum estimăm câmpul continuu de PM2.5/PM10 în punctele neobservate din București, ca să alegem locul următorului senzor de aer?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3429000"/>
            <a:ext cx="486613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Clientul și decizia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400" y="3767328"/>
            <a:ext cx="48661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Urbanism, Primăria București → unde se instalează următorul senzor fizic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97600" y="1717030"/>
            <a:ext cx="5181600" cy="4124970"/>
          </a:xfrm>
          <a:prstGeom prst="roundRect">
            <a:avLst>
              <a:gd name="adj" fmla="val 1847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en-RO"/>
          </a:p>
        </p:txBody>
      </p:sp>
      <p:sp>
        <p:nvSpPr>
          <p:cNvPr id="10" name="Text 8"/>
          <p:cNvSpPr/>
          <p:nvPr/>
        </p:nvSpPr>
        <p:spPr>
          <a:xfrm>
            <a:off x="6426200" y="1945630"/>
            <a:ext cx="486613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D9A6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 am ajuns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26200" y="2275830"/>
            <a:ext cx="486613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 curent: observații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26200" y="2788920"/>
            <a:ext cx="48661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Făcut: pipeline OpenAQ v3 paginat (63 stații, 293.123 ore), script GEE Landsat LST, aliniere zilnică + split spațial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26200" y="3703320"/>
            <a:ext cx="48661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Schimbat: perioada fixă de 1 an; stațiile duplicate din OpenAQ sunt unite; LST lunar (din cauza norilor)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din 3 · Fișier Moodle: CP1_U7.pdf · Prezentare: 3 minute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kern="0" spc="150" dirty="0">
                <a:solidFill>
                  <a:srgbClr val="C8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DOVADA STRATULUI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4393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63 stații PM în București, dar doar 0/114 senzori au ≥75% zile valide, iar periferia e aproape neacoperită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2091680"/>
            <a:ext cx="6769100" cy="3743970"/>
          </a:xfrm>
          <a:prstGeom prst="roundRect">
            <a:avLst>
              <a:gd name="adj" fmla="val 1866"/>
            </a:avLst>
          </a:prstGeom>
          <a:solidFill>
            <a:srgbClr val="E9E4D8"/>
          </a:solidFill>
          <a:ln w="12700">
            <a:solidFill>
              <a:srgbClr val="C8702A"/>
            </a:solidFill>
            <a:prstDash val="dash"/>
          </a:ln>
        </p:spPr>
        <p:txBody>
          <a:bodyPr/>
          <a:lstStyle/>
          <a:p>
            <a:endParaRPr lang="en-RO"/>
          </a:p>
        </p:txBody>
      </p:sp>
      <p:sp>
        <p:nvSpPr>
          <p:cNvPr id="7" name="Shape 5"/>
          <p:cNvSpPr/>
          <p:nvPr/>
        </p:nvSpPr>
        <p:spPr>
          <a:xfrm>
            <a:off x="7797800" y="2085330"/>
            <a:ext cx="3581400" cy="3756670"/>
          </a:xfrm>
          <a:prstGeom prst="roundRect">
            <a:avLst>
              <a:gd name="adj" fmla="val 2128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/>
          <p:nvPr/>
        </p:nvSpPr>
        <p:spPr>
          <a:xfrm>
            <a:off x="8026400" y="2313930"/>
            <a:ext cx="321792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D9A6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Cum se verifică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26400" y="2651760"/>
            <a:ext cx="32179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Repo: github.com/alinpopescu2002/IC3_U7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26400" y="3218688"/>
            <a:ext cx="32179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Date: OpenAQ v3 + Landsat C2, 2023-12 → 2025-01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26400" y="3785615"/>
            <a:ext cx="32179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Split: spațial, 5 fold-uri de stații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26400" y="4352544"/>
            <a:ext cx="32179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Seed-uri / rulări: seed 42 (blocuri), 1 rulare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26400" y="5010912"/>
            <a:ext cx="321792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200" dirty="0">
                <a:solidFill>
                  <a:srgbClr val="BFC9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Pentru client: centrul e acoperit dens, periferia nu. Acolo sunt candidații pentru noul senzor.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din 3 · Data card complet + SOA: datacard_U7.md în repo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932688" y="2176272"/>
            <a:ext cx="2743200" cy="228600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000" b="1">
                <a:solidFill>
                  <a:srgbClr val="C8702A"/>
                </a:solidFill>
                <a:latin typeface="IBM Plex Sans"/>
              </a:rPr>
              <a:t>DATA CARD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32688" y="2395728"/>
          <a:ext cx="6537960" cy="740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097280"/>
                <a:gridCol w="1143000"/>
                <a:gridCol w="502920"/>
                <a:gridCol w="1325880"/>
                <a:gridCol w="868680"/>
              </a:tblGrid>
              <a:tr h="246888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IBM Plex Sans"/>
                        </a:rPr>
                        <a:t>Sursă</a:t>
                      </a:r>
                    </a:p>
                  </a:txBody>
                  <a:tcPr marL="45720" marR="45720" marT="18288" marB="18288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IBM Plex Sans"/>
                        </a:rPr>
                        <a:t>Perioadă</a:t>
                      </a:r>
                    </a:p>
                  </a:txBody>
                  <a:tcPr marL="45720" marR="45720" marT="18288" marB="18288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IBM Plex Sans"/>
                        </a:rPr>
                        <a:t>Rezoluție</a:t>
                      </a:r>
                    </a:p>
                  </a:txBody>
                  <a:tcPr marL="45720" marR="45720" marT="18288" marB="18288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IBM Plex Sans"/>
                        </a:rPr>
                        <a:t>Unități</a:t>
                      </a:r>
                    </a:p>
                  </a:txBody>
                  <a:tcPr marL="45720" marR="45720" marT="18288" marB="18288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IBM Plex Sans"/>
                        </a:rPr>
                        <a:t>Goluri</a:t>
                      </a:r>
                    </a:p>
                  </a:txBody>
                  <a:tcPr marL="45720" marR="45720" marT="18288" marB="18288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IBM Plex Sans"/>
                        </a:rPr>
                        <a:t>Licență</a:t>
                      </a:r>
                    </a:p>
                  </a:txBody>
                  <a:tcPr marL="45720" marR="45720" marT="18288" marB="18288">
                    <a:solidFill>
                      <a:srgbClr val="1B2A41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  <a:latin typeface="IBM Plex Sans"/>
                        </a:rPr>
                        <a:t>OpenAQ v3: 63 stații, 114 senzori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2023-12-31 → 2025-01-01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orar → zilnic (≥18 h)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µg/m³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77.1% zile lipsă (med.)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CC BY 4.0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  <a:latin typeface="IBM Plex Sans"/>
                        </a:rPr>
                        <a:t>Landsat 8/9 C2 L2 (ST_B10)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2023-12-31 → 2025-01-01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30 m, 8–16 zile → lunar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°C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nori; 98.0% stație-zile cu LST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USGS, public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932688" y="3246120"/>
            <a:ext cx="2743200" cy="228600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000" b="1">
                <a:solidFill>
                  <a:srgbClr val="C8702A"/>
                </a:solidFill>
                <a:latin typeface="IBM Plex Sans"/>
              </a:rPr>
              <a:t>SOA: 10 ARTICOLE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932688" y="3465576"/>
          <a:ext cx="6537960" cy="2263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828800"/>
                <a:gridCol w="1463040"/>
                <a:gridCol w="1554480"/>
              </a:tblGrid>
              <a:tr h="205740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IBM Plex Sans"/>
                        </a:rPr>
                        <a:t>Articol</a:t>
                      </a:r>
                    </a:p>
                  </a:txBody>
                  <a:tcPr marL="45720" marR="45720" marT="18288" marB="18288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IBM Plex Sans"/>
                        </a:rPr>
                        <a:t>Metodă</a:t>
                      </a:r>
                    </a:p>
                  </a:txBody>
                  <a:tcPr marL="45720" marR="45720" marT="18288" marB="18288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IBM Plex Sans"/>
                        </a:rPr>
                        <a:t>Date</a:t>
                      </a:r>
                    </a:p>
                  </a:txBody>
                  <a:tcPr marL="45720" marR="45720" marT="18288" marB="18288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IBM Plex Sans"/>
                        </a:rPr>
                        <a:t>Metrică: rezultat</a:t>
                      </a:r>
                    </a:p>
                  </a:txBody>
                  <a:tcPr marL="45720" marR="45720" marT="18288" marB="18288">
                    <a:solidFill>
                      <a:srgbClr val="1B2A41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  <a:latin typeface="IBM Plex Sans"/>
                        </a:rPr>
                        <a:t>Krause et al. 2008, JMLR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GP + greedy pe informația mutuală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temperatură, precipitații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garanție (1−1/e) din optim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  <a:latin typeface="IBM Plex Sans"/>
                        </a:rPr>
                        <a:t>Zheng et al. 2013, KDD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co-training ANN + CRF (U-Air)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Beijing, 22 stații + urban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precizie PM10 0.83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  <a:latin typeface="IBM Plex Sans"/>
                        </a:rPr>
                        <a:t>Hsieh et al. 2015, KDD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graf afinitate + min. entropie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Beijing, 22 stații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bate IDW/kriging; TRR &lt; 0.2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  <a:latin typeface="IBM Plex Sans"/>
                        </a:rPr>
                        <a:t>Hu et al. 2017, ES&amp;T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Random Forest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SUA 2011, AOD + meteo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R² 0.80; RMSE 2.83 µg/m³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  <a:latin typeface="IBM Plex Sans"/>
                        </a:rPr>
                        <a:t>Stafoggia et al. 2019, Env Int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RF spațio-temporal, 5 etape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Italia 1 km, 2013–15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R² PM10 0.84 / PM2.5 0.86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  <a:latin typeface="IBM Plex Sans"/>
                        </a:rPr>
                        <a:t>Di et al. 2019, Env Int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ansamblu NN+RF+GBM (GAM)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SUA 1 km, 2000–15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R² PM2.5 0.86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  <a:latin typeface="IBM Plex Sans"/>
                        </a:rPr>
                        <a:t>Wei et al. 2019, RSE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space-time RF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China, ~1480 stații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R² 0.85; RMSE 15.6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  <a:latin typeface="IBM Plex Sans"/>
                        </a:rPr>
                        <a:t>Mijling 2020, AMT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dispersie + interpolare optimă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Amsterdam, ref. + low-cost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RMSE rel. 39% (&lt;2 km)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  <a:latin typeface="IBM Plex Sans"/>
                        </a:rPr>
                        <a:t>Patel et al. 2022, AAAI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GP nestaționar + periodic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Beijing 36 st., Londra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RMSE −9% vs RF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1B2A41"/>
                          </a:solidFill>
                          <a:latin typeface="IBM Plex Sans"/>
                        </a:rPr>
                        <a:t>Kelp et al. 2023, GeoHealth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mrDMD cu cost (echitate)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SUA 1 km + recensământ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B2A41"/>
                          </a:solidFill>
                          <a:latin typeface="IBM Plex Sans"/>
                        </a:rPr>
                        <a:t>150–250 senzori/oraș</a:t>
                      </a:r>
                    </a:p>
                  </a:txBody>
                  <a:tcPr marL="45720" marR="45720" marT="18288" marB="18288">
                    <a:solidFill>
                      <a:srgbClr val="F6F4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kern="0" spc="150" dirty="0">
                <a:solidFill>
                  <a:srgbClr val="C8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BLOCAJE ȘI URMĂTOARELE DOUĂ SĂPTĂMÂNI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4393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 err="1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Blocaje și următorii pași la CP2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666230"/>
            <a:ext cx="5181600" cy="4175770"/>
          </a:xfrm>
          <a:prstGeom prst="roundRect">
            <a:avLst>
              <a:gd name="adj" fmla="val 1825"/>
            </a:avLst>
          </a:prstGeom>
          <a:solidFill>
            <a:srgbClr val="E9E4D8"/>
          </a:solidFill>
          <a:ln/>
        </p:spPr>
        <p:txBody>
          <a:bodyPr/>
          <a:lstStyle/>
          <a:p>
            <a:endParaRPr lang="en-RO"/>
          </a:p>
        </p:txBody>
      </p:sp>
      <p:sp>
        <p:nvSpPr>
          <p:cNvPr id="5" name="Text 3"/>
          <p:cNvSpPr/>
          <p:nvPr/>
        </p:nvSpPr>
        <p:spPr>
          <a:xfrm>
            <a:off x="1041400" y="1894830"/>
            <a:ext cx="486613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Blocaje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1400" y="2225030"/>
            <a:ext cx="48661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Goluri mari: 77.1% zile lipsă (mediană) → păstrez doar zilele cu ≥18 h → am nevoie de decizie: prag minim de zile valide per senzor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1400" y="3291840"/>
            <a:ext cx="4866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Landsat are nori iarna, iar GEE cere autentificare → compozit median lunar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41400" y="3977639"/>
            <a:ext cx="48661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Riscul la CP2: puține stații la periferie, deci split-ul spațial va da erori mari exact unde decide clientul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7600" y="1666230"/>
            <a:ext cx="5181600" cy="4175770"/>
          </a:xfrm>
          <a:prstGeom prst="roundRect">
            <a:avLst>
              <a:gd name="adj" fmla="val 1825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en-RO"/>
          </a:p>
        </p:txBody>
      </p:sp>
      <p:sp>
        <p:nvSpPr>
          <p:cNvPr id="10" name="Text 8"/>
          <p:cNvSpPr/>
          <p:nvPr/>
        </p:nvSpPr>
        <p:spPr>
          <a:xfrm>
            <a:off x="6426200" y="1894830"/>
            <a:ext cx="486613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D9A6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Planul pe 2 săptămâni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26200" y="2221992"/>
            <a:ext cx="4866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Săptămâna 5: reprezentarea: PM zilnic + LST + coordonate; alternativă: medii sezoniere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26200" y="2788920"/>
            <a:ext cx="4866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Săptămâna 6: baseline IDW + kriging ordinar rulate pe cele 5 fold-uri spațiale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26200" y="3355848"/>
            <a:ext cx="4866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CP2 arăt: tabel RMSE/MAE: IDW vs. kriging, split spațial vs. aleator (leakage)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6200" y="4069080"/>
            <a:ext cx="48661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FC9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Secțiunea de articol: Methods (reprezentare, baseline, protocol)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din 3 · Întrebare: excludem senzorii cu &lt; 50% zile valide sau îi păstrăm cu pondere mai mică?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3 — Șablon checkpoint (3 slide-uri)">
  <a:themeElements>
    <a:clrScheme name="IC3 — Șablon checkpoint (3 slide-uri)">
      <a:dk1>
        <a:srgbClr val="1B2A41"/>
      </a:dk1>
      <a:lt1>
        <a:srgbClr val="F6F4EE"/>
      </a:lt1>
      <a:dk2>
        <a:srgbClr val="525D6C"/>
      </a:dk2>
      <a:lt2>
        <a:srgbClr val="E0E0DD"/>
      </a:lt2>
      <a:accent1>
        <a:srgbClr val="C8702A"/>
      </a:accent1>
      <a:accent2>
        <a:srgbClr val="D9A66C"/>
      </a:accent2>
      <a:accent3>
        <a:srgbClr val="6A7179"/>
      </a:accent3>
      <a:accent4>
        <a:srgbClr val="4A5568"/>
      </a:accent4>
      <a:accent5>
        <a:srgbClr val="BFC9D9"/>
      </a:accent5>
      <a:accent6>
        <a:srgbClr val="9AA0A6"/>
      </a:accent6>
      <a:hlink>
        <a:srgbClr val="0563C1"/>
      </a:hlink>
      <a:folHlink>
        <a:srgbClr val="954F72"/>
      </a:folHlink>
    </a:clrScheme>
    <a:fontScheme name="IC3 — Șablon checkpoint (3 slide-uri)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516</Words>
  <Application>Microsoft Macintosh PowerPoint</Application>
  <PresentationFormat>Widescreen</PresentationFormat>
  <Paragraphs>40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IBM Plex Sans</vt:lpstr>
      <vt:lpstr>IC3 — Șablon checkpoint (3 slide-uri)</vt:lpstr>
      <vt:lpstr>[Nume Prenume] · [ID temă, ex. A3] · [Titlul mini-twin-ului]</vt:lpstr>
      <vt:lpstr>[Un titlu care spune rezultatul, nu subiectul — ex. „LSTM bate RF cu 4% doar pe anii cu umiditate mare”]</vt:lpstr>
      <vt:lpstr>Blocaje și următorii pași la CP[n+1]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IC3 — Șablon checkpoint (3 slide-uri)</dc:title>
  <dc:subject/>
  <dc:creator/>
  <cp:lastModifiedBy>Daniela F.</cp:lastModifiedBy>
  <cp:revision>3</cp:revision>
  <dcterms:created xsi:type="dcterms:W3CDTF">2026-10-05T11:39:29Z</dcterms:created>
  <dcterms:modified xsi:type="dcterms:W3CDTF">2026-10-05T11:47:17Z</dcterms:modified>
</cp:coreProperties>
</file>